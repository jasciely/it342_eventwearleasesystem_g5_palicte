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2D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463040"/>
            <a:ext cx="121916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FFFFFF"/>
                </a:solidFill>
                <a:latin typeface="Georgia"/>
              </a:rPr>
              <a:t>EventWearify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0" y="3063240"/>
            <a:ext cx="4480560" cy="64008"/>
          </a:xfrm>
          <a:prstGeom prst="rect">
            <a:avLst/>
          </a:prstGeom>
          <a:solidFill>
            <a:srgbClr val="D4A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200400"/>
            <a:ext cx="121916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4A573"/>
                </a:solidFill>
                <a:latin typeface="Georgia"/>
              </a:rPr>
              <a:t>Event Wear Lease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114800"/>
            <a:ext cx="121916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Jasmine Ciely Palicte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6634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DD9B8"/>
                </a:solidFill>
                <a:latin typeface="Calibri"/>
              </a:rPr>
              <a:t>IT342  —  Systems Integration and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166360"/>
            <a:ext cx="12191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DD9B8"/>
                </a:solidFill>
                <a:latin typeface="Calibri"/>
              </a:rPr>
              <a:t>2nd Semester  ·  S.Y. 2025 –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2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D4A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SYSTEM PROJECT 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3566160" cy="4389120"/>
          </a:xfrm>
          <a:prstGeom prst="rect">
            <a:avLst/>
          </a:prstGeom>
          <a:solidFill>
            <a:srgbClr val="6B2D39"/>
          </a:solidFill>
          <a:ln w="19050">
            <a:solidFill>
              <a:srgbClr val="4A1F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D4A573"/>
                </a:solidFill>
                <a:latin typeface="Georgia"/>
              </a:rPr>
              <a:t>PURPOSE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29968"/>
            <a:ext cx="3200400" cy="45720"/>
          </a:xfrm>
          <a:prstGeom prst="rect">
            <a:avLst/>
          </a:prstGeom>
          <a:solidFill>
            <a:srgbClr val="D4A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A digital rental and lease management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platform for event wear shops —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businesses that rent out gowns, suits,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barongs, and special-occasion attire.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EventWearify replaces manual, paper-based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booking methods with a fully digital,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centralized system accessible on both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web and Android mobile.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5968" y="1371600"/>
            <a:ext cx="3566160" cy="4389120"/>
          </a:xfrm>
          <a:prstGeom prst="rect">
            <a:avLst/>
          </a:prstGeom>
          <a:solidFill>
            <a:srgbClr val="D4A573"/>
          </a:solidFill>
          <a:ln w="19050">
            <a:solidFill>
              <a:srgbClr val="4A1F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15968" y="14630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4A1F28"/>
                </a:solidFill>
                <a:latin typeface="Georgia"/>
              </a:rPr>
              <a:t>PROBLEM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98848" y="2029968"/>
            <a:ext cx="3200400" cy="45720"/>
          </a:xfrm>
          <a:prstGeom prst="rect">
            <a:avLst/>
          </a:prstGeom>
          <a:solidFill>
            <a:srgbClr val="6B2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214884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0A0F"/>
                </a:solidFill>
                <a:latin typeface="Calibri"/>
              </a:rPr>
              <a:t>Most small event wear shops manage</a:t>
            </a:r>
          </a:p>
          <a:p>
            <a:pPr algn="l"/>
            <a:r>
              <a:rPr sz="1300" b="0">
                <a:solidFill>
                  <a:srgbClr val="1A0A0F"/>
                </a:solidFill>
                <a:latin typeface="Calibri"/>
              </a:rPr>
              <a:t>bookings through text messages,</a:t>
            </a:r>
          </a:p>
          <a:p>
            <a:pPr algn="l"/>
            <a:r>
              <a:rPr sz="1300" b="0">
                <a:solidFill>
                  <a:srgbClr val="1A0A0F"/>
                </a:solidFill>
                <a:latin typeface="Calibri"/>
              </a:rPr>
              <a:t>paper records, or spreadsheets.</a:t>
            </a:r>
          </a:p>
          <a:p>
            <a:pPr algn="l"/>
            <a:r>
              <a:rPr sz="800" b="0">
                <a:solidFill>
                  <a:srgbClr val="1A0A0F"/>
                </a:solidFill>
                <a:latin typeface="Calibri"/>
              </a:rPr>
              <a:t/>
            </a:r>
          </a:p>
          <a:p>
            <a:pPr algn="l"/>
            <a:r>
              <a:rPr sz="1300" b="1">
                <a:solidFill>
                  <a:srgbClr val="1A0A0F"/>
                </a:solidFill>
                <a:latin typeface="Calibri"/>
              </a:rPr>
              <a:t>This leads to:</a:t>
            </a:r>
          </a:p>
          <a:p>
            <a:pPr algn="l"/>
            <a:r>
              <a:rPr sz="1300" b="0">
                <a:solidFill>
                  <a:srgbClr val="1A0A0F"/>
                </a:solidFill>
                <a:latin typeface="Calibri"/>
              </a:rPr>
              <a:t>·  Double bookings</a:t>
            </a:r>
          </a:p>
          <a:p>
            <a:pPr algn="l"/>
            <a:r>
              <a:rPr sz="1300" b="0">
                <a:solidFill>
                  <a:srgbClr val="1A0A0F"/>
                </a:solidFill>
                <a:latin typeface="Calibri"/>
              </a:rPr>
              <a:t>·  Missed reservations</a:t>
            </a:r>
          </a:p>
          <a:p>
            <a:pPr algn="l"/>
            <a:r>
              <a:rPr sz="1300" b="0">
                <a:solidFill>
                  <a:srgbClr val="1A0A0F"/>
                </a:solidFill>
                <a:latin typeface="Calibri"/>
              </a:rPr>
              <a:t>·  No real-time visibility</a:t>
            </a:r>
          </a:p>
          <a:p>
            <a:pPr algn="l"/>
            <a:r>
              <a:rPr sz="1300" b="0">
                <a:solidFill>
                  <a:srgbClr val="1A0A0F"/>
                </a:solidFill>
                <a:latin typeface="Calibri"/>
              </a:rPr>
              <a:t>·  Poor customer experience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11896" y="1371600"/>
            <a:ext cx="3566160" cy="4389120"/>
          </a:xfrm>
          <a:prstGeom prst="rect">
            <a:avLst/>
          </a:prstGeom>
          <a:solidFill>
            <a:srgbClr val="FEF6EE"/>
          </a:solidFill>
          <a:ln w="19050">
            <a:solidFill>
              <a:srgbClr val="6B2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1896" y="14630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6B2D39"/>
                </a:solidFill>
                <a:latin typeface="Georgia"/>
              </a:rPr>
              <a:t>USERS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94776" y="2029968"/>
            <a:ext cx="3200400" cy="45720"/>
          </a:xfrm>
          <a:prstGeom prst="rect">
            <a:avLst/>
          </a:prstGeom>
          <a:solidFill>
            <a:srgbClr val="D4A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94776" y="214884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2D39"/>
                </a:solidFill>
                <a:latin typeface="Calibri"/>
              </a:rPr>
              <a:t>ADMIN</a:t>
            </a:r>
          </a:p>
          <a:p>
            <a:pPr algn="l"/>
            <a:r>
              <a:rPr sz="1300" b="0">
                <a:solidFill>
                  <a:srgbClr val="1A0A0F"/>
                </a:solidFill>
                <a:latin typeface="Calibri"/>
              </a:rPr>
              <a:t>Shop owner or staff who manage</a:t>
            </a:r>
          </a:p>
          <a:p>
            <a:pPr algn="l"/>
            <a:r>
              <a:rPr sz="1300" b="0">
                <a:solidFill>
                  <a:srgbClr val="1A0A0F"/>
                </a:solidFill>
                <a:latin typeface="Calibri"/>
              </a:rPr>
              <a:t>inventory, bookings, customers,</a:t>
            </a:r>
          </a:p>
          <a:p>
            <a:pPr algn="l"/>
            <a:r>
              <a:rPr sz="1300" b="0">
                <a:solidFill>
                  <a:srgbClr val="1A0A0F"/>
                </a:solidFill>
                <a:latin typeface="Calibri"/>
              </a:rPr>
              <a:t>and overall operations.</a:t>
            </a:r>
          </a:p>
          <a:p>
            <a:pPr algn="l"/>
            <a:r>
              <a:rPr sz="800" b="0">
                <a:solidFill>
                  <a:srgbClr val="1A0A0F"/>
                </a:solidFill>
                <a:latin typeface="Calibri"/>
              </a:rPr>
              <a:t/>
            </a:r>
          </a:p>
          <a:p>
            <a:pPr algn="l"/>
            <a:r>
              <a:rPr sz="1400" b="1">
                <a:solidFill>
                  <a:srgbClr val="6B2D39"/>
                </a:solidFill>
                <a:latin typeface="Calibri"/>
              </a:rPr>
              <a:t>CUSTOMER</a:t>
            </a:r>
          </a:p>
          <a:p>
            <a:pPr algn="l"/>
            <a:r>
              <a:rPr sz="1300" b="0">
                <a:solidFill>
                  <a:srgbClr val="1A0A0F"/>
                </a:solidFill>
                <a:latin typeface="Calibri"/>
              </a:rPr>
              <a:t>Clients who browse the catalog,</a:t>
            </a:r>
          </a:p>
          <a:p>
            <a:pPr algn="l"/>
            <a:r>
              <a:rPr sz="1300" b="0">
                <a:solidFill>
                  <a:srgbClr val="1A0A0F"/>
                </a:solidFill>
                <a:latin typeface="Calibri"/>
              </a:rPr>
              <a:t>check availability, and place</a:t>
            </a:r>
          </a:p>
          <a:p>
            <a:pPr algn="l"/>
            <a:r>
              <a:rPr sz="1300" b="0">
                <a:solidFill>
                  <a:srgbClr val="1A0A0F"/>
                </a:solidFill>
                <a:latin typeface="Calibri"/>
              </a:rPr>
              <a:t>bookings online.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2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D4A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MAIN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402336" cy="402336"/>
          </a:xfrm>
          <a:prstGeom prst="rect">
            <a:avLst/>
          </a:prstGeom>
          <a:solidFill>
            <a:srgbClr val="6B2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1298448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2D39"/>
                </a:solidFill>
                <a:latin typeface="Calibri"/>
              </a:rPr>
              <a:t>Authentication &amp; Authorization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32104" y="1627632"/>
            <a:ext cx="4754880" cy="27432"/>
          </a:xfrm>
          <a:prstGeom prst="rect">
            <a:avLst/>
          </a:prstGeom>
          <a:solidFill>
            <a:srgbClr val="EDD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682496"/>
            <a:ext cx="4892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A0F"/>
                </a:solidFill>
                <a:latin typeface="Calibri"/>
              </a:rPr>
              <a:t>JWT login with role-based access control (Admin / Customer) and Google OAuth2 social login.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212848"/>
            <a:ext cx="402336" cy="402336"/>
          </a:xfrm>
          <a:prstGeom prst="rect">
            <a:avLst/>
          </a:prstGeom>
          <a:solidFill>
            <a:srgbClr val="6B2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2139696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2D39"/>
                </a:solidFill>
                <a:latin typeface="Calibri"/>
              </a:rPr>
              <a:t>Inventory Management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" y="2468880"/>
            <a:ext cx="4754880" cy="27432"/>
          </a:xfrm>
          <a:prstGeom prst="rect">
            <a:avLst/>
          </a:prstGeom>
          <a:solidFill>
            <a:srgbClr val="EDD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523744"/>
            <a:ext cx="4892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A0F"/>
                </a:solidFill>
                <a:latin typeface="Calibri"/>
              </a:rPr>
              <a:t>Add, update, and delete items with images stored on Supabase Cloud Storage.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054096"/>
            <a:ext cx="402336" cy="402336"/>
          </a:xfrm>
          <a:prstGeom prst="rect">
            <a:avLst/>
          </a:prstGeom>
          <a:solidFill>
            <a:srgbClr val="6B2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2980944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2D39"/>
                </a:solidFill>
                <a:latin typeface="Calibri"/>
              </a:rPr>
              <a:t>Fitting Bookings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" y="3310128"/>
            <a:ext cx="4754880" cy="27432"/>
          </a:xfrm>
          <a:prstGeom prst="rect">
            <a:avLst/>
          </a:prstGeom>
          <a:solidFill>
            <a:srgbClr val="EDD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" y="3364992"/>
            <a:ext cx="4892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A0F"/>
                </a:solidFill>
                <a:latin typeface="Calibri"/>
              </a:rPr>
              <a:t>Schedule physical fitting appointments with time-slot availability enforcement.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895344"/>
            <a:ext cx="402336" cy="402336"/>
          </a:xfrm>
          <a:prstGeom prst="rect">
            <a:avLst/>
          </a:prstGeom>
          <a:solidFill>
            <a:srgbClr val="6B2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" y="3822192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2D39"/>
                </a:solidFill>
                <a:latin typeface="Calibri"/>
              </a:rPr>
              <a:t>Direct Lease Bookings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" y="4151376"/>
            <a:ext cx="4754880" cy="27432"/>
          </a:xfrm>
          <a:prstGeom prst="rect">
            <a:avLst/>
          </a:prstGeom>
          <a:solidFill>
            <a:srgbClr val="EDD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" y="4206240"/>
            <a:ext cx="4892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A0F"/>
                </a:solidFill>
                <a:latin typeface="Calibri"/>
              </a:rPr>
              <a:t>Book items for a date range with automatic price and weekly/monthly discount calculation.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371600"/>
            <a:ext cx="402336" cy="402336"/>
          </a:xfrm>
          <a:prstGeom prst="rect">
            <a:avLst/>
          </a:prstGeom>
          <a:solidFill>
            <a:srgbClr val="6B2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2864" y="1298448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2D39"/>
                </a:solidFill>
                <a:latin typeface="Calibri"/>
              </a:rPr>
              <a:t>Custom Availability Calendar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12864" y="1627632"/>
            <a:ext cx="4754880" cy="27432"/>
          </a:xfrm>
          <a:prstGeom prst="rect">
            <a:avLst/>
          </a:prstGeom>
          <a:solidFill>
            <a:srgbClr val="EDD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12864" y="1682496"/>
            <a:ext cx="4892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A0F"/>
                </a:solidFill>
                <a:latin typeface="Calibri"/>
              </a:rPr>
              <a:t>Color-coded calendar shows available, past, closed, and fully booked dates in real time.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212848"/>
            <a:ext cx="402336" cy="402336"/>
          </a:xfrm>
          <a:prstGeom prst="rect">
            <a:avLst/>
          </a:prstGeom>
          <a:solidFill>
            <a:srgbClr val="6B2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12864" y="2139696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2D39"/>
                </a:solidFill>
                <a:latin typeface="Calibri"/>
              </a:rPr>
              <a:t>Real-Time Updates via SSE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12864" y="2468880"/>
            <a:ext cx="4754880" cy="27432"/>
          </a:xfrm>
          <a:prstGeom prst="rect">
            <a:avLst/>
          </a:prstGeom>
          <a:solidFill>
            <a:srgbClr val="EDD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12864" y="2523744"/>
            <a:ext cx="4892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A0F"/>
                </a:solidFill>
                <a:latin typeface="Calibri"/>
              </a:rPr>
              <a:t>Server-Sent Events push booking changes to all admin screens instantly — no refresh needed.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054096"/>
            <a:ext cx="402336" cy="402336"/>
          </a:xfrm>
          <a:prstGeom prst="rect">
            <a:avLst/>
          </a:prstGeom>
          <a:solidFill>
            <a:srgbClr val="6B2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12864" y="2980944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2D39"/>
                </a:solidFill>
                <a:latin typeface="Calibri"/>
              </a:rPr>
              <a:t>Email Notifications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12864" y="3310128"/>
            <a:ext cx="4754880" cy="27432"/>
          </a:xfrm>
          <a:prstGeom prst="rect">
            <a:avLst/>
          </a:prstGeom>
          <a:solidFill>
            <a:srgbClr val="EDD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12864" y="3364992"/>
            <a:ext cx="4892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A0F"/>
                </a:solidFill>
                <a:latin typeface="Calibri"/>
              </a:rPr>
              <a:t>Automated confirmation, status update, and cancellation emails sent via Gmail SMTP.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2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D4A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SYSTEM ARCHITECTURE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274552" cy="5367528"/>
          </a:xfrm>
          <a:prstGeom prst="rect">
            <a:avLst/>
          </a:prstGeom>
          <a:solidFill>
            <a:srgbClr val="FEF6EE"/>
          </a:solidFill>
          <a:ln w="19050">
            <a:solidFill>
              <a:srgbClr val="D4A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274320" cy="73152"/>
          </a:xfrm>
          <a:prstGeom prst="rect">
            <a:avLst/>
          </a:prstGeom>
          <a:solidFill>
            <a:srgbClr val="6B2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76304" y="1261872"/>
            <a:ext cx="274320" cy="73152"/>
          </a:xfrm>
          <a:prstGeom prst="rect">
            <a:avLst/>
          </a:prstGeom>
          <a:solidFill>
            <a:srgbClr val="6B2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274320" cy="73152"/>
          </a:xfrm>
          <a:prstGeom prst="rect">
            <a:avLst/>
          </a:prstGeom>
          <a:solidFill>
            <a:srgbClr val="6B2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76304" y="6400800"/>
            <a:ext cx="274320" cy="73152"/>
          </a:xfrm>
          <a:prstGeom prst="rect">
            <a:avLst/>
          </a:prstGeom>
          <a:solidFill>
            <a:srgbClr val="6B2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560320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4D5A"/>
                </a:solidFill>
                <a:latin typeface="Calibri"/>
              </a:rPr>
              <a:t>[ Insert  Diagram 1  —  System Architecture  PNG here ]</a:t>
            </a:r>
          </a:p>
          <a:p>
            <a:pPr algn="l"/>
            <a:r>
              <a:rPr sz="800" b="0">
                <a:solidFill>
                  <a:srgbClr val="1A0A0F"/>
                </a:solidFill>
                <a:latin typeface="Calibri"/>
              </a:rPr>
              <a:t/>
            </a:r>
          </a:p>
          <a:p>
            <a:pPr algn="l"/>
            <a:r>
              <a:rPr sz="1200" b="1">
                <a:solidFill>
                  <a:srgbClr val="1A0A0F"/>
                </a:solidFill>
                <a:latin typeface="Calibri"/>
              </a:rPr>
              <a:t>How to insert:</a:t>
            </a:r>
          </a:p>
          <a:p>
            <a:pPr algn="l"/>
            <a:r>
              <a:rPr sz="1200" b="0">
                <a:solidFill>
                  <a:srgbClr val="1A0A0F"/>
                </a:solidFill>
                <a:latin typeface="Calibri"/>
              </a:rPr>
              <a:t>1.  Open  mermaid.live  and paste the diagram code</a:t>
            </a:r>
          </a:p>
          <a:p>
            <a:pPr algn="l"/>
            <a:r>
              <a:rPr sz="1200" b="0">
                <a:solidFill>
                  <a:srgbClr val="1A0A0F"/>
                </a:solidFill>
                <a:latin typeface="Calibri"/>
              </a:rPr>
              <a:t>2.  Click  Download PNG  (top-right of the preview panel)</a:t>
            </a:r>
          </a:p>
          <a:p>
            <a:pPr algn="l"/>
            <a:r>
              <a:rPr sz="1200" b="0">
                <a:solidFill>
                  <a:srgbClr val="1A0A0F"/>
                </a:solidFill>
                <a:latin typeface="Calibri"/>
              </a:rPr>
              <a:t>3.  Delete this text box</a:t>
            </a:r>
          </a:p>
          <a:p>
            <a:pPr algn="l"/>
            <a:r>
              <a:rPr sz="1200" b="0">
                <a:solidFill>
                  <a:srgbClr val="1A0A0F"/>
                </a:solidFill>
                <a:latin typeface="Calibri"/>
              </a:rPr>
              <a:t>4.  Click Insert  Picture  and choose the downloaded PNG</a:t>
            </a:r>
          </a:p>
          <a:p>
            <a:pPr algn="l"/>
            <a:r>
              <a:rPr sz="1200" b="0">
                <a:solidFill>
                  <a:srgbClr val="1A0A0F"/>
                </a:solidFill>
                <a:latin typeface="Calibri"/>
              </a:rPr>
              <a:t>5.  Resize the image to fill this bordered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4D5A"/>
                </a:solidFill>
                <a:latin typeface="Calibri"/>
              </a:rPr>
              <a:t>CLIENT LAYER  (Burgundy)   |   APPLICATION LAYER  (Gold)   |   DATA &amp; INTEGRATION LAYER  (Cream)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2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D4A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BACKEND LAYERED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274552" cy="5367528"/>
          </a:xfrm>
          <a:prstGeom prst="rect">
            <a:avLst/>
          </a:prstGeom>
          <a:solidFill>
            <a:srgbClr val="FEF6EE"/>
          </a:solidFill>
          <a:ln w="19050">
            <a:solidFill>
              <a:srgbClr val="D4A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274320" cy="73152"/>
          </a:xfrm>
          <a:prstGeom prst="rect">
            <a:avLst/>
          </a:prstGeom>
          <a:solidFill>
            <a:srgbClr val="6B2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76304" y="1261872"/>
            <a:ext cx="274320" cy="73152"/>
          </a:xfrm>
          <a:prstGeom prst="rect">
            <a:avLst/>
          </a:prstGeom>
          <a:solidFill>
            <a:srgbClr val="6B2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274320" cy="73152"/>
          </a:xfrm>
          <a:prstGeom prst="rect">
            <a:avLst/>
          </a:prstGeom>
          <a:solidFill>
            <a:srgbClr val="6B2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76304" y="6400800"/>
            <a:ext cx="274320" cy="73152"/>
          </a:xfrm>
          <a:prstGeom prst="rect">
            <a:avLst/>
          </a:prstGeom>
          <a:solidFill>
            <a:srgbClr val="6B2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560320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4D5A"/>
                </a:solidFill>
                <a:latin typeface="Calibri"/>
              </a:rPr>
              <a:t>[ Insert  Diagram 2  —  Backend Layers  PNG here ]</a:t>
            </a:r>
          </a:p>
          <a:p>
            <a:pPr algn="l"/>
            <a:r>
              <a:rPr sz="800" b="0">
                <a:solidFill>
                  <a:srgbClr val="1A0A0F"/>
                </a:solidFill>
                <a:latin typeface="Calibri"/>
              </a:rPr>
              <a:t/>
            </a:r>
          </a:p>
          <a:p>
            <a:pPr algn="l"/>
            <a:r>
              <a:rPr sz="1200" b="1">
                <a:solidFill>
                  <a:srgbClr val="1A0A0F"/>
                </a:solidFill>
                <a:latin typeface="Calibri"/>
              </a:rPr>
              <a:t>How to insert:</a:t>
            </a:r>
          </a:p>
          <a:p>
            <a:pPr algn="l"/>
            <a:r>
              <a:rPr sz="1200" b="0">
                <a:solidFill>
                  <a:srgbClr val="1A0A0F"/>
                </a:solidFill>
                <a:latin typeface="Calibri"/>
              </a:rPr>
              <a:t>1.  Open  mermaid.live  and paste the diagram code</a:t>
            </a:r>
          </a:p>
          <a:p>
            <a:pPr algn="l"/>
            <a:r>
              <a:rPr sz="1200" b="0">
                <a:solidFill>
                  <a:srgbClr val="1A0A0F"/>
                </a:solidFill>
                <a:latin typeface="Calibri"/>
              </a:rPr>
              <a:t>2.  Click  Download PNG  (top-right of the preview panel)</a:t>
            </a:r>
          </a:p>
          <a:p>
            <a:pPr algn="l"/>
            <a:r>
              <a:rPr sz="1200" b="0">
                <a:solidFill>
                  <a:srgbClr val="1A0A0F"/>
                </a:solidFill>
                <a:latin typeface="Calibri"/>
              </a:rPr>
              <a:t>3.  Delete this text box</a:t>
            </a:r>
          </a:p>
          <a:p>
            <a:pPr algn="l"/>
            <a:r>
              <a:rPr sz="1200" b="0">
                <a:solidFill>
                  <a:srgbClr val="1A0A0F"/>
                </a:solidFill>
                <a:latin typeface="Calibri"/>
              </a:rPr>
              <a:t>4.  Click Insert  Picture  and choose the downloaded PNG</a:t>
            </a:r>
          </a:p>
          <a:p>
            <a:pPr algn="l"/>
            <a:r>
              <a:rPr sz="1200" b="0">
                <a:solidFill>
                  <a:srgbClr val="1A0A0F"/>
                </a:solidFill>
                <a:latin typeface="Calibri"/>
              </a:rPr>
              <a:t>5.  Resize the image to fill this bordered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4D5A"/>
                </a:solidFill>
                <a:latin typeface="Calibri"/>
              </a:rPr>
              <a:t>CONTROLLER  (Burgundy)   |   SERVICE  (Medium Burgundy)   |   REPOSITORY  (Gold)   |   ENTITY  (Light Gold)   |   DATABASE  (Cream)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2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D4A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END-TO-END BOOKING DATA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274552" cy="5367528"/>
          </a:xfrm>
          <a:prstGeom prst="rect">
            <a:avLst/>
          </a:prstGeom>
          <a:solidFill>
            <a:srgbClr val="FEF6EE"/>
          </a:solidFill>
          <a:ln w="19050">
            <a:solidFill>
              <a:srgbClr val="D4A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274320" cy="73152"/>
          </a:xfrm>
          <a:prstGeom prst="rect">
            <a:avLst/>
          </a:prstGeom>
          <a:solidFill>
            <a:srgbClr val="6B2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76304" y="1261872"/>
            <a:ext cx="274320" cy="73152"/>
          </a:xfrm>
          <a:prstGeom prst="rect">
            <a:avLst/>
          </a:prstGeom>
          <a:solidFill>
            <a:srgbClr val="6B2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274320" cy="73152"/>
          </a:xfrm>
          <a:prstGeom prst="rect">
            <a:avLst/>
          </a:prstGeom>
          <a:solidFill>
            <a:srgbClr val="6B2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76304" y="6400800"/>
            <a:ext cx="274320" cy="73152"/>
          </a:xfrm>
          <a:prstGeom prst="rect">
            <a:avLst/>
          </a:prstGeom>
          <a:solidFill>
            <a:srgbClr val="6B2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560320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4D5A"/>
                </a:solidFill>
                <a:latin typeface="Calibri"/>
              </a:rPr>
              <a:t>[ Insert  Diagram 3  —  Booking Data Flow  PNG here ]</a:t>
            </a:r>
          </a:p>
          <a:p>
            <a:pPr algn="l"/>
            <a:r>
              <a:rPr sz="800" b="0">
                <a:solidFill>
                  <a:srgbClr val="1A0A0F"/>
                </a:solidFill>
                <a:latin typeface="Calibri"/>
              </a:rPr>
              <a:t/>
            </a:r>
          </a:p>
          <a:p>
            <a:pPr algn="l"/>
            <a:r>
              <a:rPr sz="1200" b="1">
                <a:solidFill>
                  <a:srgbClr val="1A0A0F"/>
                </a:solidFill>
                <a:latin typeface="Calibri"/>
              </a:rPr>
              <a:t>How to insert:</a:t>
            </a:r>
          </a:p>
          <a:p>
            <a:pPr algn="l"/>
            <a:r>
              <a:rPr sz="1200" b="0">
                <a:solidFill>
                  <a:srgbClr val="1A0A0F"/>
                </a:solidFill>
                <a:latin typeface="Calibri"/>
              </a:rPr>
              <a:t>1.  Open  mermaid.live  and paste the diagram code</a:t>
            </a:r>
          </a:p>
          <a:p>
            <a:pPr algn="l"/>
            <a:r>
              <a:rPr sz="1200" b="0">
                <a:solidFill>
                  <a:srgbClr val="1A0A0F"/>
                </a:solidFill>
                <a:latin typeface="Calibri"/>
              </a:rPr>
              <a:t>2.  Click  Download PNG  (top-right of the preview panel)</a:t>
            </a:r>
          </a:p>
          <a:p>
            <a:pPr algn="l"/>
            <a:r>
              <a:rPr sz="1200" b="0">
                <a:solidFill>
                  <a:srgbClr val="1A0A0F"/>
                </a:solidFill>
                <a:latin typeface="Calibri"/>
              </a:rPr>
              <a:t>3.  Delete this text box</a:t>
            </a:r>
          </a:p>
          <a:p>
            <a:pPr algn="l"/>
            <a:r>
              <a:rPr sz="1200" b="0">
                <a:solidFill>
                  <a:srgbClr val="1A0A0F"/>
                </a:solidFill>
                <a:latin typeface="Calibri"/>
              </a:rPr>
              <a:t>4.  Click Insert  Picture  and choose the downloaded PNG</a:t>
            </a:r>
          </a:p>
          <a:p>
            <a:pPr algn="l"/>
            <a:r>
              <a:rPr sz="1200" b="0">
                <a:solidFill>
                  <a:srgbClr val="1A0A0F"/>
                </a:solidFill>
                <a:latin typeface="Calibri"/>
              </a:rPr>
              <a:t>5.  Resize the image to fill this bordered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4D5A"/>
                </a:solidFill>
                <a:latin typeface="Calibri"/>
              </a:rPr>
              <a:t>Customer App  →  Spring Boot API  →  PostgreSQL  →  SSE Service  →  Admin Screen  +  Gmail SMTP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2D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554480"/>
            <a:ext cx="121916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0" y="3154680"/>
            <a:ext cx="4480560" cy="64008"/>
          </a:xfrm>
          <a:prstGeom prst="rect">
            <a:avLst/>
          </a:prstGeom>
          <a:solidFill>
            <a:srgbClr val="D4A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29184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4A573"/>
                </a:solidFill>
                <a:latin typeface="Georgia"/>
              </a:rPr>
              <a:t>EventWearify  —  Event Wear Lease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160520"/>
            <a:ext cx="121916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Jasmine Ciely Palicte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70916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DD9B8"/>
                </a:solidFill>
                <a:latin typeface="Calibri"/>
              </a:rPr>
              <a:t>IT342  —  Systems Integration and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212080"/>
            <a:ext cx="12191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DD9B8"/>
                </a:solidFill>
                <a:latin typeface="Calibri"/>
              </a:rPr>
              <a:t>2nd Semester  ·  S.Y. 2025 –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